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1440" y="845195"/>
            <a:ext cx="932688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0"/>
              </a:lnSpc>
              <a:buNone/>
            </a:pPr>
            <a:r>
              <a:rPr lang="en-US" sz="108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🏭</a:t>
            </a:r>
            <a:endParaRPr lang="en-US" sz="10800" dirty="0"/>
          </a:p>
        </p:txBody>
      </p:sp>
      <p:sp>
        <p:nvSpPr>
          <p:cNvPr id="4" name="Text 1"/>
          <p:cNvSpPr/>
          <p:nvPr/>
        </p:nvSpPr>
        <p:spPr>
          <a:xfrm>
            <a:off x="-91440" y="2512070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LexFlow • 15 September 2026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-91440" y="2746325"/>
            <a:ext cx="932688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80"/>
              </a:lnSpc>
              <a:buNone/>
            </a:pPr>
            <a:r>
              <a:rPr lang="en-US" sz="7200" b="1" dirty="0">
                <a:solidFill>
                  <a:srgbClr val="00D7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Your SaaS Software Factory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285750" y="3660577"/>
            <a:ext cx="85725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11"/>
              </a:lnSpc>
              <a:buNone/>
            </a:pPr>
            <a:r>
              <a:rPr lang="en-US" sz="1620" dirty="0">
                <a:solidFill>
                  <a:srgbClr val="C8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Free-first model routing. Isolated worktrees. Evidence before merge. Resilient cronjobs. Human control over CRM, email, calendar and production.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99680"/>
            <a:ext cx="2157413" cy="1966912"/>
          </a:xfrm>
          <a:prstGeom prst="roundRect">
            <a:avLst>
              <a:gd name="adj" fmla="val 8368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328863" y="2199680"/>
            <a:ext cx="2157413" cy="1966912"/>
          </a:xfrm>
          <a:prstGeom prst="roundRect">
            <a:avLst>
              <a:gd name="adj" fmla="val 8368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57725" y="2199680"/>
            <a:ext cx="2157413" cy="1966912"/>
          </a:xfrm>
          <a:prstGeom prst="roundRect">
            <a:avLst>
              <a:gd name="adj" fmla="val 8368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86588" y="2199680"/>
            <a:ext cx="2157413" cy="1966912"/>
          </a:xfrm>
          <a:prstGeom prst="roundRect">
            <a:avLst>
              <a:gd name="adj" fmla="val 8368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976759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0" y="1180505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Finish CRM without building chaos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00025" y="2399705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7d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00025" y="2866430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installed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200025" y="3200102"/>
            <a:ext cx="1757363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Markdown controls, worktrees, proof and review loop.</a:t>
            </a:r>
            <a:endParaRPr lang="en-US" sz="1128" dirty="0"/>
          </a:p>
        </p:txBody>
      </p:sp>
      <p:sp>
        <p:nvSpPr>
          <p:cNvPr id="12" name="Text 9"/>
          <p:cNvSpPr/>
          <p:nvPr/>
        </p:nvSpPr>
        <p:spPr>
          <a:xfrm>
            <a:off x="2528888" y="2399705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528888" y="2866430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validated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2528888" y="3200102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10–20 real tasks with cost and defect metrics.</a:t>
            </a:r>
            <a:endParaRPr lang="en-US" sz="1128" dirty="0"/>
          </a:p>
        </p:txBody>
      </p:sp>
      <p:sp>
        <p:nvSpPr>
          <p:cNvPr id="15" name="Text 12"/>
          <p:cNvSpPr/>
          <p:nvPr/>
        </p:nvSpPr>
        <p:spPr>
          <a:xfrm>
            <a:off x="4857750" y="2399705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857750" y="2866430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Free/no-agent target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4857750" y="3200102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Eligible routine runs avoid paid LLMs.</a:t>
            </a:r>
            <a:endParaRPr lang="en-US" sz="1128" dirty="0"/>
          </a:p>
        </p:txBody>
      </p:sp>
      <p:sp>
        <p:nvSpPr>
          <p:cNvPr id="18" name="Text 15"/>
          <p:cNvSpPr/>
          <p:nvPr/>
        </p:nvSpPr>
        <p:spPr>
          <a:xfrm>
            <a:off x="7186613" y="2399705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2→4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186613" y="2866430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stations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186613" y="3200102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two; increase after 10 clean PRs.</a:t>
            </a:r>
            <a:endParaRPr lang="en-US" sz="112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076724"/>
            <a:ext cx="1444526" cy="742950"/>
          </a:xfrm>
          <a:prstGeom prst="roundRect">
            <a:avLst>
              <a:gd name="adj" fmla="val 172308"/>
            </a:avLst>
          </a:prstGeom>
          <a:solidFill>
            <a:srgbClr val="FFFFFF">
              <a:alpha val="7000"/>
            </a:srgbClr>
          </a:solidFill>
          <a:ln w="38100">
            <a:solidFill>
              <a:srgbClr val="00D7C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539776" y="3076724"/>
            <a:ext cx="1444675" cy="742950"/>
          </a:xfrm>
          <a:prstGeom prst="roundRect">
            <a:avLst>
              <a:gd name="adj" fmla="val 172308"/>
            </a:avLst>
          </a:prstGeom>
          <a:solidFill>
            <a:srgbClr val="FFFFFF">
              <a:alpha val="7000"/>
            </a:srgbClr>
          </a:solidFill>
          <a:ln w="38100">
            <a:solidFill>
              <a:srgbClr val="00D7C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79700" y="3076724"/>
            <a:ext cx="1444675" cy="742950"/>
          </a:xfrm>
          <a:prstGeom prst="roundRect">
            <a:avLst>
              <a:gd name="adj" fmla="val 172308"/>
            </a:avLst>
          </a:prstGeom>
          <a:solidFill>
            <a:srgbClr val="FFFFFF">
              <a:alpha val="7000"/>
            </a:srgbClr>
          </a:solidFill>
          <a:ln w="38100">
            <a:solidFill>
              <a:srgbClr val="00D7C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19625" y="3076724"/>
            <a:ext cx="1444526" cy="742950"/>
          </a:xfrm>
          <a:prstGeom prst="roundRect">
            <a:avLst>
              <a:gd name="adj" fmla="val 172308"/>
            </a:avLst>
          </a:prstGeom>
          <a:solidFill>
            <a:srgbClr val="FFFFFF">
              <a:alpha val="7000"/>
            </a:srgbClr>
          </a:solidFill>
          <a:ln w="38100">
            <a:solidFill>
              <a:srgbClr val="00D7C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59401" y="3076724"/>
            <a:ext cx="1444675" cy="742950"/>
          </a:xfrm>
          <a:prstGeom prst="roundRect">
            <a:avLst>
              <a:gd name="adj" fmla="val 172308"/>
            </a:avLst>
          </a:prstGeom>
          <a:solidFill>
            <a:srgbClr val="FFFFFF">
              <a:alpha val="7000"/>
            </a:srgbClr>
          </a:solidFill>
          <a:ln w="38100">
            <a:solidFill>
              <a:srgbClr val="00D7C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99325" y="3076724"/>
            <a:ext cx="1444675" cy="742950"/>
          </a:xfrm>
          <a:prstGeom prst="roundRect">
            <a:avLst>
              <a:gd name="adj" fmla="val 172308"/>
            </a:avLst>
          </a:prstGeom>
          <a:solidFill>
            <a:srgbClr val="FFFFFF">
              <a:alpha val="7000"/>
            </a:srgbClr>
          </a:solidFill>
          <a:ln w="38100">
            <a:solidFill>
              <a:srgbClr val="00D7C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0" y="972443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system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0" y="1176189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Pod method, hardened for SaaS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0" y="2172444"/>
            <a:ext cx="85725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11"/>
              </a:lnSpc>
              <a:buNone/>
            </a:pPr>
            <a:r>
              <a:rPr lang="en-US" sz="1620" dirty="0">
                <a:solidFill>
                  <a:srgbClr val="C8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Ras Mic’s four stages. Add an intake gate before agents code and an observability gate after deployment.</a:t>
            </a:r>
            <a:endParaRPr lang="en-US" sz="1620" dirty="0"/>
          </a:p>
        </p:txBody>
      </p:sp>
      <p:sp>
        <p:nvSpPr>
          <p:cNvPr id="12" name="Text 9"/>
          <p:cNvSpPr/>
          <p:nvPr/>
        </p:nvSpPr>
        <p:spPr>
          <a:xfrm>
            <a:off x="0" y="3933974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34"/>
              </a:lnSpc>
              <a:buNone/>
            </a:pPr>
            <a:r>
              <a:rPr lang="en-US" sz="816" dirty="0">
                <a:solidFill>
                  <a:srgbClr val="738A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 Mic: five or six markdown files; one worktree per task; before/after evidence; PR loop until 5/5.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74019"/>
            <a:ext cx="9144000" cy="2647950"/>
          </a:xfrm>
          <a:prstGeom prst="roundRect">
            <a:avLst>
              <a:gd name="adj" fmla="val 48345"/>
            </a:avLst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525" y="1683544"/>
            <a:ext cx="2105620" cy="342900"/>
          </a:xfrm>
          <a:prstGeom prst="rect">
            <a:avLst/>
          </a:prstGeom>
          <a:solidFill>
            <a:srgbClr val="00D7C0">
              <a:alpha val="8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2115145" y="1683544"/>
            <a:ext cx="1754832" cy="342900"/>
          </a:xfrm>
          <a:prstGeom prst="rect">
            <a:avLst/>
          </a:prstGeom>
          <a:solidFill>
            <a:srgbClr val="00D7C0">
              <a:alpha val="8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No-agent / FREE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3869978" y="1683544"/>
            <a:ext cx="1754832" cy="342900"/>
          </a:xfrm>
          <a:prstGeom prst="rect">
            <a:avLst/>
          </a:prstGeom>
          <a:solidFill>
            <a:srgbClr val="00D7C0">
              <a:alpha val="8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worker</a:t>
            </a:r>
            <a:endParaRPr lang="en-US" sz="936" dirty="0"/>
          </a:p>
        </p:txBody>
      </p:sp>
      <p:sp>
        <p:nvSpPr>
          <p:cNvPr id="7" name="Text 4"/>
          <p:cNvSpPr/>
          <p:nvPr/>
        </p:nvSpPr>
        <p:spPr>
          <a:xfrm>
            <a:off x="5624810" y="1683544"/>
            <a:ext cx="1754832" cy="342900"/>
          </a:xfrm>
          <a:prstGeom prst="rect">
            <a:avLst/>
          </a:prstGeom>
          <a:solidFill>
            <a:srgbClr val="00D7C0">
              <a:alpha val="8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gate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7379643" y="1683544"/>
            <a:ext cx="1754832" cy="342900"/>
          </a:xfrm>
          <a:prstGeom prst="rect">
            <a:avLst/>
          </a:prstGeom>
          <a:solidFill>
            <a:srgbClr val="00D7C0">
              <a:alpha val="8000"/>
            </a:srgbClr>
          </a:solidFill>
          <a:ln/>
        </p:spPr>
        <p:txBody>
          <a:bodyPr wrap="square" lIns="95250" tIns="95250" rIns="95250" bIns="95250" rtlCol="0" anchor="t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0" y="470148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router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0" y="673894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Free first — but not blindly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9525" y="2026444"/>
            <a:ext cx="21056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Flask fix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2115145" y="202644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Laguna canary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3869978" y="202644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Coder 30B</a:t>
            </a:r>
            <a:endParaRPr lang="en-US" sz="936" dirty="0"/>
          </a:p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$0.07/$0.27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5624810" y="202644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5 review</a:t>
            </a:r>
            <a:endParaRPr lang="en-US" sz="936" dirty="0"/>
          </a:p>
        </p:txBody>
      </p:sp>
      <p:sp>
        <p:nvSpPr>
          <p:cNvPr id="15" name="Text 12"/>
          <p:cNvSpPr/>
          <p:nvPr/>
        </p:nvSpPr>
        <p:spPr>
          <a:xfrm>
            <a:off x="7379643" y="202644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data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9525" y="2512219"/>
            <a:ext cx="21056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CRM feature</a:t>
            </a:r>
            <a:endParaRPr lang="en-US" sz="936" dirty="0"/>
          </a:p>
        </p:txBody>
      </p:sp>
      <p:sp>
        <p:nvSpPr>
          <p:cNvPr id="17" name="Text 14"/>
          <p:cNvSpPr/>
          <p:nvPr/>
        </p:nvSpPr>
        <p:spPr>
          <a:xfrm>
            <a:off x="2115145" y="251221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decomposition</a:t>
            </a:r>
            <a:endParaRPr lang="en-US" sz="936" dirty="0"/>
          </a:p>
        </p:txBody>
      </p:sp>
      <p:sp>
        <p:nvSpPr>
          <p:cNvPr id="18" name="Text 15"/>
          <p:cNvSpPr/>
          <p:nvPr/>
        </p:nvSpPr>
        <p:spPr>
          <a:xfrm>
            <a:off x="3869978" y="251221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Coder 480B</a:t>
            </a:r>
            <a:endParaRPr lang="en-US" sz="936" dirty="0"/>
          </a:p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$0.22/$1.80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5624810" y="251221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Sonnet; Opus critical</a:t>
            </a:r>
            <a:endParaRPr lang="en-US" sz="936" dirty="0"/>
          </a:p>
        </p:txBody>
      </p:sp>
      <p:sp>
        <p:nvSpPr>
          <p:cNvPr id="20" name="Text 17"/>
          <p:cNvSpPr/>
          <p:nvPr/>
        </p:nvSpPr>
        <p:spPr>
          <a:xfrm>
            <a:off x="7379643" y="251221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client data</a:t>
            </a:r>
            <a:endParaRPr lang="en-US" sz="936" dirty="0"/>
          </a:p>
        </p:txBody>
      </p:sp>
      <p:sp>
        <p:nvSpPr>
          <p:cNvPr id="21" name="Text 18"/>
          <p:cNvSpPr/>
          <p:nvPr/>
        </p:nvSpPr>
        <p:spPr>
          <a:xfrm>
            <a:off x="9525" y="2997994"/>
            <a:ext cx="21056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/ research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2115145" y="299799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+ Solar FREE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3869978" y="299799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GLM Flash</a:t>
            </a:r>
            <a:endParaRPr lang="en-US" sz="936" dirty="0"/>
          </a:p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$0.07/$0.25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5624810" y="299799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strategy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7379643" y="2997994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Public/aggregate</a:t>
            </a:r>
            <a:endParaRPr lang="en-US" sz="936" dirty="0"/>
          </a:p>
        </p:txBody>
      </p:sp>
      <p:sp>
        <p:nvSpPr>
          <p:cNvPr id="26" name="Text 23"/>
          <p:cNvSpPr/>
          <p:nvPr/>
        </p:nvSpPr>
        <p:spPr>
          <a:xfrm>
            <a:off x="9525" y="3483769"/>
            <a:ext cx="21056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Obsidian</a:t>
            </a:r>
            <a:endParaRPr lang="en-US" sz="936" dirty="0"/>
          </a:p>
        </p:txBody>
      </p:sp>
      <p:sp>
        <p:nvSpPr>
          <p:cNvPr id="27" name="Text 24"/>
          <p:cNvSpPr/>
          <p:nvPr/>
        </p:nvSpPr>
        <p:spPr>
          <a:xfrm>
            <a:off x="2115145" y="348376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+ Solar FREE</a:t>
            </a:r>
            <a:endParaRPr lang="en-US" sz="936" dirty="0"/>
          </a:p>
        </p:txBody>
      </p:sp>
      <p:sp>
        <p:nvSpPr>
          <p:cNvPr id="28" name="Text 25"/>
          <p:cNvSpPr/>
          <p:nvPr/>
        </p:nvSpPr>
        <p:spPr>
          <a:xfrm>
            <a:off x="3869978" y="348376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235B</a:t>
            </a:r>
            <a:endParaRPr lang="en-US" sz="936" dirty="0"/>
          </a:p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$0.09/$0.35</a:t>
            </a:r>
            <a:endParaRPr lang="en-US" sz="936" dirty="0"/>
          </a:p>
        </p:txBody>
      </p:sp>
      <p:sp>
        <p:nvSpPr>
          <p:cNvPr id="29" name="Text 26"/>
          <p:cNvSpPr/>
          <p:nvPr/>
        </p:nvSpPr>
        <p:spPr>
          <a:xfrm>
            <a:off x="5624810" y="348376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taxonomy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7379643" y="3483769"/>
            <a:ext cx="17548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Staging only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9525" y="3969544"/>
            <a:ext cx="2105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/ OAuth / RLS</a:t>
            </a:r>
            <a:endParaRPr lang="en-US" sz="936" dirty="0"/>
          </a:p>
        </p:txBody>
      </p:sp>
      <p:sp>
        <p:nvSpPr>
          <p:cNvPr id="32" name="Text 29"/>
          <p:cNvSpPr/>
          <p:nvPr/>
        </p:nvSpPr>
        <p:spPr>
          <a:xfrm>
            <a:off x="2115145" y="3969544"/>
            <a:ext cx="175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FF6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anonymous free</a:t>
            </a:r>
            <a:endParaRPr lang="en-US" sz="936" dirty="0"/>
          </a:p>
        </p:txBody>
      </p:sp>
      <p:sp>
        <p:nvSpPr>
          <p:cNvPr id="33" name="Text 30"/>
          <p:cNvSpPr/>
          <p:nvPr/>
        </p:nvSpPr>
        <p:spPr>
          <a:xfrm>
            <a:off x="3869978" y="3969544"/>
            <a:ext cx="175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test scaffolds</a:t>
            </a:r>
            <a:endParaRPr lang="en-US" sz="936" dirty="0"/>
          </a:p>
        </p:txBody>
      </p:sp>
      <p:sp>
        <p:nvSpPr>
          <p:cNvPr id="34" name="Text 31"/>
          <p:cNvSpPr/>
          <p:nvPr/>
        </p:nvSpPr>
        <p:spPr>
          <a:xfrm>
            <a:off x="5624810" y="3969544"/>
            <a:ext cx="175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/ Opus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7379643" y="3969544"/>
            <a:ext cx="1754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private route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0" y="4436269"/>
            <a:ext cx="9326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34"/>
              </a:lnSpc>
              <a:buNone/>
            </a:pPr>
            <a:r>
              <a:rPr lang="en-US" sz="816" dirty="0">
                <a:solidFill>
                  <a:srgbClr val="738A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 are the user-provided Nous Portal snapshot; USD per 1M input/output tokens.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10515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1030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0515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030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0" y="374303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fleet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0" y="578048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Deploy free models where failure is cheap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20002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Pro 4 FREE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20002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research, SEO summaries, translation, sanitized specs and Obsidian flag summaries.</a:t>
            </a:r>
            <a:endParaRPr lang="en-US" sz="1128" dirty="0"/>
          </a:p>
        </p:txBody>
      </p:sp>
      <p:sp>
        <p:nvSpPr>
          <p:cNvPr id="13" name="Text 10"/>
          <p:cNvSpPr/>
          <p:nvPr/>
        </p:nvSpPr>
        <p:spPr>
          <a:xfrm>
            <a:off x="330517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Laguna S / XS FREE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330517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Canary small code patches, test drafts and low-risk CI triage. Never auto-merge.</a:t>
            </a:r>
            <a:endParaRPr lang="en-US" sz="1128" dirty="0"/>
          </a:p>
        </p:txBody>
      </p:sp>
      <p:sp>
        <p:nvSpPr>
          <p:cNvPr id="15" name="Text 12"/>
          <p:cNvSpPr/>
          <p:nvPr/>
        </p:nvSpPr>
        <p:spPr>
          <a:xfrm>
            <a:off x="641032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3.7 Flash FREE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641032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credit/provider anomalies after a deterministic script detects change.</a:t>
            </a:r>
            <a:endParaRPr lang="en-US" sz="1128" dirty="0"/>
          </a:p>
        </p:txBody>
      </p:sp>
      <p:sp>
        <p:nvSpPr>
          <p:cNvPr id="17" name="Text 14"/>
          <p:cNvSpPr/>
          <p:nvPr/>
        </p:nvSpPr>
        <p:spPr>
          <a:xfrm>
            <a:off x="20002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LongCat 2.0 FREE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20002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public classification and first-pass summaries; benchmark before reliance.</a:t>
            </a:r>
            <a:endParaRPr lang="en-US" sz="1128" dirty="0"/>
          </a:p>
        </p:txBody>
      </p:sp>
      <p:sp>
        <p:nvSpPr>
          <p:cNvPr id="19" name="Text 16"/>
          <p:cNvSpPr/>
          <p:nvPr/>
        </p:nvSpPr>
        <p:spPr>
          <a:xfrm>
            <a:off x="330517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 Fin / Sante FREE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330517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experiments only; no legal-client records or health/financial personal data.</a:t>
            </a:r>
            <a:endParaRPr lang="en-US" sz="1128" dirty="0"/>
          </a:p>
        </p:txBody>
      </p:sp>
      <p:sp>
        <p:nvSpPr>
          <p:cNvPr id="21" name="Text 18"/>
          <p:cNvSpPr/>
          <p:nvPr/>
        </p:nvSpPr>
        <p:spPr>
          <a:xfrm>
            <a:off x="641032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is a route, not a trust mark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641032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 may also appear as paid entries. Select the exact FREE catalog route.</a:t>
            </a:r>
            <a:endParaRPr lang="en-US" sz="112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10515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1030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0515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030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0" y="374303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actual work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0" y="578048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Routes for recurring tasks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20002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LexFlow + a-Lexy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20002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briefs/worktrees. Preserve architecture boundaries until explicit approval.</a:t>
            </a:r>
            <a:endParaRPr lang="en-US" sz="1128" dirty="0"/>
          </a:p>
        </p:txBody>
      </p:sp>
      <p:sp>
        <p:nvSpPr>
          <p:cNvPr id="13" name="Text 10"/>
          <p:cNvSpPr/>
          <p:nvPr/>
        </p:nvSpPr>
        <p:spPr>
          <a:xfrm>
            <a:off x="330517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Deployment/debug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330517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verified command at a time; staging first; backup and rollback before production.</a:t>
            </a:r>
            <a:endParaRPr lang="en-US" sz="1128" dirty="0"/>
          </a:p>
        </p:txBody>
      </p:sp>
      <p:sp>
        <p:nvSpPr>
          <p:cNvPr id="15" name="Text 12"/>
          <p:cNvSpPr/>
          <p:nvPr/>
        </p:nvSpPr>
        <p:spPr>
          <a:xfrm>
            <a:off x="641032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SEO/GEO/AEO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641032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GSC/crawl delta script → FREE summary only when data changed → max three actions.</a:t>
            </a:r>
            <a:endParaRPr lang="en-US" sz="1128" dirty="0"/>
          </a:p>
        </p:txBody>
      </p:sp>
      <p:sp>
        <p:nvSpPr>
          <p:cNvPr id="17" name="Text 14"/>
          <p:cNvSpPr/>
          <p:nvPr/>
        </p:nvSpPr>
        <p:spPr>
          <a:xfrm>
            <a:off x="20002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Obsidian/Hindsight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20002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agent logs separate from permanent and personal notes. Writes staged.</a:t>
            </a:r>
            <a:endParaRPr lang="en-US" sz="1128" dirty="0"/>
          </a:p>
        </p:txBody>
      </p:sp>
      <p:sp>
        <p:nvSpPr>
          <p:cNvPr id="19" name="Text 16"/>
          <p:cNvSpPr/>
          <p:nvPr/>
        </p:nvSpPr>
        <p:spPr>
          <a:xfrm>
            <a:off x="330517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Airtable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330517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Read/diff by default. Proposed milestone updates remain drafts until approved.</a:t>
            </a:r>
            <a:endParaRPr lang="en-US" sz="1128" dirty="0"/>
          </a:p>
        </p:txBody>
      </p:sp>
      <p:sp>
        <p:nvSpPr>
          <p:cNvPr id="21" name="Text 18"/>
          <p:cNvSpPr/>
          <p:nvPr/>
        </p:nvSpPr>
        <p:spPr>
          <a:xfrm>
            <a:off x="641032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Email/calendar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641032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anonymous free model. Never send email unless asked; modify only agent/CRM-created events.</a:t>
            </a:r>
            <a:endParaRPr lang="en-US" sz="112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13645"/>
            <a:ext cx="4486275" cy="2338983"/>
          </a:xfrm>
          <a:prstGeom prst="roundRect">
            <a:avLst>
              <a:gd name="adj" fmla="val 703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00025" y="3106043"/>
            <a:ext cx="4086225" cy="858738"/>
          </a:xfrm>
          <a:prstGeom prst="roundRect">
            <a:avLst>
              <a:gd name="adj" fmla="val 127778"/>
            </a:avLst>
          </a:prstGeom>
          <a:solidFill>
            <a:srgbClr val="05090D"/>
          </a:solidFill>
          <a:ln w="9525">
            <a:solidFill>
              <a:srgbClr val="00D7C0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BAF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cron create "every 15m" \</a:t>
            </a:r>
            <a:endParaRPr lang="en-US" sz="936" dirty="0"/>
          </a:p>
          <a:p>
            <a:pPr algn="l" indent="0" marL="0">
              <a:buNone/>
            </a:pPr>
            <a:r>
              <a:rPr lang="en-US" sz="936" dirty="0">
                <a:solidFill>
                  <a:srgbClr val="BAF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--no-agent --script ~/.hermes/scripts/lexflow-health.sh \</a:t>
            </a:r>
            <a:endParaRPr lang="en-US" sz="936" dirty="0"/>
          </a:p>
          <a:p>
            <a:pPr algn="l" indent="0" marL="0">
              <a:buNone/>
            </a:pPr>
            <a:r>
              <a:rPr lang="en-US" sz="936" dirty="0">
                <a:solidFill>
                  <a:srgbClr val="BAF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--deliver telegram --name "lexflow-health"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4657725" y="2013645"/>
            <a:ext cx="4486275" cy="2338983"/>
          </a:xfrm>
          <a:prstGeom prst="roundRect">
            <a:avLst>
              <a:gd name="adj" fmla="val 703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57750" y="3115568"/>
            <a:ext cx="4086225" cy="1037034"/>
          </a:xfrm>
          <a:prstGeom prst="roundRect">
            <a:avLst>
              <a:gd name="adj" fmla="val 105809"/>
            </a:avLst>
          </a:prstGeom>
          <a:solidFill>
            <a:srgbClr val="05090D"/>
          </a:solidFill>
          <a:ln w="9525">
            <a:solidFill>
              <a:srgbClr val="00D7C0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BAF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hermes cron create "0 8 * * 1-5" \</a:t>
            </a:r>
            <a:endParaRPr lang="en-US" sz="936" dirty="0"/>
          </a:p>
          <a:p>
            <a:pPr algn="l" indent="0" marL="0">
              <a:buNone/>
            </a:pPr>
            <a:r>
              <a:rPr lang="en-US" sz="936" dirty="0">
                <a:solidFill>
                  <a:srgbClr val="BAF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"If NO_CHANGE, output [SILENT]. If changed, cite evidence; max 3 actions." \</a:t>
            </a:r>
            <a:endParaRPr lang="en-US" sz="936" dirty="0"/>
          </a:p>
          <a:p>
            <a:pPr algn="l" indent="0" marL="0">
              <a:buNone/>
            </a:pPr>
            <a:r>
              <a:rPr lang="en-US" sz="936" dirty="0">
                <a:solidFill>
                  <a:srgbClr val="BAF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--script ~/.hermes/scripts/seo-delta.py --name "seo-delta"</a:t>
            </a:r>
            <a:endParaRPr lang="en-US" sz="936" dirty="0"/>
          </a:p>
        </p:txBody>
      </p:sp>
      <p:sp>
        <p:nvSpPr>
          <p:cNvPr id="7" name="Text 4"/>
          <p:cNvSpPr/>
          <p:nvPr/>
        </p:nvSpPr>
        <p:spPr>
          <a:xfrm>
            <a:off x="0" y="790724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 architecture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0" y="994470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Script first. Model only on change.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00025" y="2213670"/>
            <a:ext cx="4167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Zero-agent jobs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200025" y="2547342"/>
            <a:ext cx="4086225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check • backup verification • credit delta • dependency audit • broken-link scan.</a:t>
            </a:r>
            <a:endParaRPr lang="en-US" sz="1128" dirty="0"/>
          </a:p>
        </p:txBody>
      </p:sp>
      <p:sp>
        <p:nvSpPr>
          <p:cNvPr id="11" name="Text 8"/>
          <p:cNvSpPr/>
          <p:nvPr/>
        </p:nvSpPr>
        <p:spPr>
          <a:xfrm>
            <a:off x="4857750" y="2213670"/>
            <a:ext cx="4167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Two-stage jobs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4857750" y="2547342"/>
            <a:ext cx="4086225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fetch/diff runs first. A FREE model explains only </a:t>
            </a:r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otherwise </a:t>
            </a:r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10515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10300" y="1597223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10515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0300" y="3268861"/>
            <a:ext cx="2933700" cy="1500188"/>
          </a:xfrm>
          <a:prstGeom prst="roundRect">
            <a:avLst>
              <a:gd name="adj" fmla="val 10971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0" y="374303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0" y="578048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API/OAuth failure must not block work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20002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Preflight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20002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Auth, model availability, quota, tiny completion and tool capability before each batch.</a:t>
            </a:r>
            <a:endParaRPr lang="en-US" sz="1128" dirty="0"/>
          </a:p>
        </p:txBody>
      </p:sp>
      <p:sp>
        <p:nvSpPr>
          <p:cNvPr id="13" name="Text 10"/>
          <p:cNvSpPr/>
          <p:nvPr/>
        </p:nvSpPr>
        <p:spPr>
          <a:xfrm>
            <a:off x="330517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Checkpoint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330517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FEATURE.md, commands, artifacts and next action live in the worktree—not chat memory.</a:t>
            </a:r>
            <a:endParaRPr lang="en-US" sz="1128" dirty="0"/>
          </a:p>
        </p:txBody>
      </p:sp>
      <p:sp>
        <p:nvSpPr>
          <p:cNvPr id="15" name="Text 12"/>
          <p:cNvSpPr/>
          <p:nvPr/>
        </p:nvSpPr>
        <p:spPr>
          <a:xfrm>
            <a:off x="6410325" y="1797248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Fallback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6410325" y="2130921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provider + credential. Immediate failover on 401/403; two retries only for transient errors.</a:t>
            </a:r>
            <a:endParaRPr lang="en-US" sz="1128" dirty="0"/>
          </a:p>
        </p:txBody>
      </p:sp>
      <p:sp>
        <p:nvSpPr>
          <p:cNvPr id="17" name="Text 14"/>
          <p:cNvSpPr/>
          <p:nvPr/>
        </p:nvSpPr>
        <p:spPr>
          <a:xfrm>
            <a:off x="20002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Budget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20002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Token, time and iteration ceiling. Stop instead of burning credits in a review loop.</a:t>
            </a:r>
            <a:endParaRPr lang="en-US" sz="1128" dirty="0"/>
          </a:p>
        </p:txBody>
      </p:sp>
      <p:sp>
        <p:nvSpPr>
          <p:cNvPr id="19" name="Text 16"/>
          <p:cNvSpPr/>
          <p:nvPr/>
        </p:nvSpPr>
        <p:spPr>
          <a:xfrm>
            <a:off x="330517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Permission gate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330517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email send, CRM/Airtable write, merge or production deploy without explicit approval.</a:t>
            </a:r>
            <a:endParaRPr lang="en-US" sz="1128" dirty="0"/>
          </a:p>
        </p:txBody>
      </p:sp>
      <p:sp>
        <p:nvSpPr>
          <p:cNvPr id="21" name="Text 18"/>
          <p:cNvSpPr/>
          <p:nvPr/>
        </p:nvSpPr>
        <p:spPr>
          <a:xfrm>
            <a:off x="6410325" y="3468886"/>
            <a:ext cx="25843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Recovery drill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6410325" y="3802559"/>
            <a:ext cx="253365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provider outage simulation; resume from checkpoint using the fallback model.</a:t>
            </a:r>
            <a:endParaRPr lang="en-US" sz="112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77591"/>
            <a:ext cx="4486275" cy="1643360"/>
          </a:xfrm>
          <a:prstGeom prst="roundRect">
            <a:avLst>
              <a:gd name="adj" fmla="val 10015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57725" y="1677591"/>
            <a:ext cx="4486275" cy="1643360"/>
          </a:xfrm>
          <a:prstGeom prst="roundRect">
            <a:avLst>
              <a:gd name="adj" fmla="val 10015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454670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0" y="658416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Hybrid beats a single subscription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200025" y="1877616"/>
            <a:ext cx="4167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Nous / free worker pool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200025" y="2211288"/>
            <a:ext cx="4086225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70F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Best:</a:t>
            </a:r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quantity, cheap parallel work, cron summaries, public research.</a:t>
            </a:r>
            <a:endParaRPr lang="en-US" sz="1128" dirty="0"/>
          </a:p>
        </p:txBody>
      </p:sp>
      <p:sp>
        <p:nvSpPr>
          <p:cNvPr id="9" name="Text 6"/>
          <p:cNvSpPr/>
          <p:nvPr/>
        </p:nvSpPr>
        <p:spPr>
          <a:xfrm>
            <a:off x="200025" y="2769989"/>
            <a:ext cx="4167949" cy="20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FFBD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</a:t>
            </a:r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promo changes, route ambiguity, provider/auth layers.</a:t>
            </a:r>
            <a:endParaRPr lang="en-US" sz="1128" dirty="0"/>
          </a:p>
        </p:txBody>
      </p:sp>
      <p:sp>
        <p:nvSpPr>
          <p:cNvPr id="10" name="Text 7"/>
          <p:cNvSpPr/>
          <p:nvPr/>
        </p:nvSpPr>
        <p:spPr>
          <a:xfrm>
            <a:off x="4857750" y="1877616"/>
            <a:ext cx="4167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/ API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4857750" y="2211288"/>
            <a:ext cx="4086225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70F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Best:</a:t>
            </a:r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your interactive coding, architecture, auth/RLS and independent review.</a:t>
            </a:r>
            <a:endParaRPr lang="en-US" sz="1128" dirty="0"/>
          </a:p>
        </p:txBody>
      </p:sp>
      <p:sp>
        <p:nvSpPr>
          <p:cNvPr id="12" name="Text 9"/>
          <p:cNvSpPr/>
          <p:nvPr/>
        </p:nvSpPr>
        <p:spPr>
          <a:xfrm>
            <a:off x="4857750" y="2769989"/>
            <a:ext cx="4167949" cy="20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FFBD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</a:t>
            </a:r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shared subscription usage and higher API cost.</a:t>
            </a:r>
            <a:endParaRPr lang="en-US" sz="1128" dirty="0"/>
          </a:p>
        </p:txBody>
      </p:sp>
      <p:sp>
        <p:nvSpPr>
          <p:cNvPr id="13" name="Text 10"/>
          <p:cNvSpPr/>
          <p:nvPr/>
        </p:nvSpPr>
        <p:spPr>
          <a:xfrm>
            <a:off x="0" y="3526631"/>
            <a:ext cx="8572500" cy="95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11"/>
              </a:lnSpc>
              <a:buNone/>
            </a:pPr>
            <a:r>
              <a:rPr lang="en-US" sz="162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</a:t>
            </a:r>
            <a:pPr indent="0" marL="0">
              <a:lnSpc>
                <a:spcPts val="2511"/>
              </a:lnSpc>
              <a:buNone/>
            </a:pPr>
            <a:r>
              <a:rPr lang="en-US" sz="1620" dirty="0">
                <a:solidFill>
                  <a:srgbClr val="C8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Claude Pro for your daily native coding session; Nous credits for batch agents; Sonnet 5 as the quality gate. Do not assume a Claude subscription funds Hermes/API usage.</a:t>
            </a:r>
            <a:endParaRPr lang="en-US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768673"/>
            <a:ext cx="8763000" cy="419100"/>
          </a:xfrm>
          <a:prstGeom prst="roundRect">
            <a:avLst>
              <a:gd name="adj" fmla="val 26181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81000" y="2330648"/>
            <a:ext cx="8763000" cy="419100"/>
          </a:xfrm>
          <a:prstGeom prst="roundRect">
            <a:avLst>
              <a:gd name="adj" fmla="val 26181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1000" y="2892623"/>
            <a:ext cx="8763000" cy="419100"/>
          </a:xfrm>
          <a:prstGeom prst="roundRect">
            <a:avLst>
              <a:gd name="adj" fmla="val 26181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81000" y="3454598"/>
            <a:ext cx="8763000" cy="419100"/>
          </a:xfrm>
          <a:prstGeom prst="roundRect">
            <a:avLst>
              <a:gd name="adj" fmla="val 26181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1000" y="4016573"/>
            <a:ext cx="8763000" cy="419100"/>
          </a:xfrm>
          <a:prstGeom prst="roundRect">
            <a:avLst>
              <a:gd name="adj" fmla="val 261818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564803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0" y="768548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First seven days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81000" y="1768673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— Inventory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Repos, tests, deployments, secrets, active branches and cronjobs.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1000" y="2330648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— Control files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AGENTS.md plus five skills; customize to Flask and LexFlow.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1000" y="2892623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 — Isolate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Protect main; install worktree helper; dry-run on a disposable branch.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1000" y="3454598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4–5 — First proven PR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Qwen Coder 30B builds; evidence bundle; Sonnet review.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1000" y="4016573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6–7 — Automate carefully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Health, backup, credit cronjobs; then two parallel low-risk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779091"/>
            <a:ext cx="2157413" cy="1759148"/>
          </a:xfrm>
          <a:prstGeom prst="roundRect">
            <a:avLst>
              <a:gd name="adj" fmla="val 9356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328863" y="1779091"/>
            <a:ext cx="2157413" cy="1759148"/>
          </a:xfrm>
          <a:prstGeom prst="roundRect">
            <a:avLst>
              <a:gd name="adj" fmla="val 9356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57725" y="1779091"/>
            <a:ext cx="2157413" cy="1759148"/>
          </a:xfrm>
          <a:prstGeom prst="roundRect">
            <a:avLst>
              <a:gd name="adj" fmla="val 9356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86588" y="1779091"/>
            <a:ext cx="2157413" cy="1759148"/>
          </a:xfrm>
          <a:prstGeom prst="roundRect">
            <a:avLst>
              <a:gd name="adj" fmla="val 9356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556171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gates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0" y="759916"/>
            <a:ext cx="932688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4800" b="1" dirty="0">
                <a:solidFill>
                  <a:srgbClr val="EDF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Scale only from evidence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00025" y="1979116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≥70%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00025" y="2445841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First-pass proof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200025" y="2779514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 criteria pass without rebuild.</a:t>
            </a:r>
            <a:endParaRPr lang="en-US" sz="1128" dirty="0"/>
          </a:p>
        </p:txBody>
      </p:sp>
      <p:sp>
        <p:nvSpPr>
          <p:cNvPr id="12" name="Text 9"/>
          <p:cNvSpPr/>
          <p:nvPr/>
        </p:nvSpPr>
        <p:spPr>
          <a:xfrm>
            <a:off x="2528888" y="1979116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528888" y="2445841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escapes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2528888" y="2779514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merged critical defect or unauthorized action.</a:t>
            </a:r>
            <a:endParaRPr lang="en-US" sz="1128" dirty="0"/>
          </a:p>
        </p:txBody>
      </p:sp>
      <p:sp>
        <p:nvSpPr>
          <p:cNvPr id="15" name="Text 12"/>
          <p:cNvSpPr/>
          <p:nvPr/>
        </p:nvSpPr>
        <p:spPr>
          <a:xfrm>
            <a:off x="4857750" y="1979116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857750" y="2445841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test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4857750" y="2779514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 jobs resume from checkpoint.</a:t>
            </a:r>
            <a:endParaRPr lang="en-US" sz="1128" dirty="0"/>
          </a:p>
        </p:txBody>
      </p:sp>
      <p:sp>
        <p:nvSpPr>
          <p:cNvPr id="18" name="Text 15"/>
          <p:cNvSpPr/>
          <p:nvPr/>
        </p:nvSpPr>
        <p:spPr>
          <a:xfrm>
            <a:off x="7186613" y="1979116"/>
            <a:ext cx="17925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186613" y="2445841"/>
            <a:ext cx="1792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34"/>
              </a:lnSpc>
              <a:buNone/>
            </a:pPr>
            <a:r>
              <a:rPr lang="en-US" sz="1260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worktrees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186613" y="2779514"/>
            <a:ext cx="1757363" cy="4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6"/>
              </a:lnSpc>
              <a:buNone/>
            </a:pPr>
            <a:r>
              <a:rPr lang="en-US" sz="1128" dirty="0">
                <a:solidFill>
                  <a:srgbClr val="C8D6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after ten clean PRs and stable gates.</a:t>
            </a:r>
            <a:endParaRPr lang="en-US" sz="1128" dirty="0"/>
          </a:p>
        </p:txBody>
      </p:sp>
      <p:sp>
        <p:nvSpPr>
          <p:cNvPr id="21" name="Text 18"/>
          <p:cNvSpPr/>
          <p:nvPr/>
        </p:nvSpPr>
        <p:spPr>
          <a:xfrm>
            <a:off x="0" y="3743920"/>
            <a:ext cx="85725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11"/>
              </a:lnSpc>
              <a:buNone/>
            </a:pPr>
            <a:r>
              <a:rPr lang="en-US" sz="1620" dirty="0">
                <a:solidFill>
                  <a:srgbClr val="C8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median/P90 AI cost per accepted task, cycle time, review iterations, escaped defects and provider failures. Route using your own data—not generic benchmarks.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1440" y="928985"/>
            <a:ext cx="932688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0"/>
              </a:lnSpc>
              <a:buNone/>
            </a:pPr>
            <a:r>
              <a:rPr lang="en-US" sz="10800" dirty="0">
                <a:solidFill>
                  <a:srgbClr val="EDF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🚦</a:t>
            </a:r>
            <a:endParaRPr lang="en-US" sz="10800" dirty="0"/>
          </a:p>
        </p:txBody>
      </p:sp>
      <p:sp>
        <p:nvSpPr>
          <p:cNvPr id="4" name="Text 1"/>
          <p:cNvSpPr/>
          <p:nvPr/>
        </p:nvSpPr>
        <p:spPr>
          <a:xfrm>
            <a:off x="-91440" y="2595860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2"/>
              </a:lnSpc>
              <a:buNone/>
            </a:pPr>
            <a:r>
              <a:rPr lang="en-US" sz="936" b="1" dirty="0">
                <a:solidFill>
                  <a:srgbClr val="00D7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next move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-91440" y="2814935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6000" b="1" dirty="0">
                <a:solidFill>
                  <a:srgbClr val="00D7C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Build one clean station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285750" y="3576935"/>
            <a:ext cx="85725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11"/>
              </a:lnSpc>
              <a:buNone/>
            </a:pPr>
            <a:r>
              <a:rPr lang="en-US" sz="1620" dirty="0">
                <a:solidFill>
                  <a:srgbClr val="C8D8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1: inventory. Day 2: markdown controls. Day 3: worktree. Day 4: one tiny CRM issue. Prove it before scaling.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2026-09-15T09:25:08Z</dcterms:created>
  <dcterms:modified xsi:type="dcterms:W3CDTF">2026-09-15T09:25:08Z</dcterms:modified>
</cp:coreProperties>
</file>